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we'll cover STEMI - one of the most time-critical emergencies you'll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457200"/>
            <a:ext cx="2133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</a:defRPr>
            </a:pPr>
            <a:r>
              <a:t>STEMI Recognition &amp; Management</a:t>
            </a:r>
          </a:p>
          <a:p>
            <a:pPr algn="ctr">
              <a:spcBef>
                <a:spcPts val="1200"/>
              </a:spcBef>
              <a:defRPr sz="2800" i="1">
                <a:solidFill>
                  <a:srgbClr val="EF4444"/>
                </a:solidFill>
              </a:defRPr>
            </a:pPr>
            <a:r>
              <a:t>Saving Hearts, Saving Time</a:t>
            </a:r>
          </a:p>
          <a:p>
            <a:pPr algn="ctr"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</a:p>
          <a:p>
            <a:pPr algn="ctr"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  <a:r>
              <a:t>Dr. Peter Bleszynski, MD, FACC, FSCAI</a:t>
            </a:r>
          </a:p>
          <a:p>
            <a:pPr algn="ctr"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  <a:r>
              <a:t>Director of Cardiology, North Vista Hospital</a:t>
            </a:r>
          </a:p>
          <a:p>
            <a:pPr algn="ctr"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  <a:r>
              <a:t>March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6217920"/>
            <a:ext cx="4876495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AFTER THIS SESSION YOU WILL:</a:t>
            </a: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• Recognize classic and atypical STEMI patterns on 12-lead EKG</a:t>
            </a: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• Identify common STEMI mimics to avoid false activations</a:t>
            </a: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• Apply current AHA/ACC guideline-directed prehospital management</a:t>
            </a: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• Understand door-to-balloon time importance</a:t>
            </a: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• Describe key medications in ACS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⏱️ TIME = MUSCLE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657600" cy="1828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EVERY 30 MIN DELAY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↑ 7.5% Mortality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That's someone's family 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371600"/>
            <a:ext cx="3657600" cy="1828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1 BILLION CELLS/HOUR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8288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Heart muscle dying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During complete occlusion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371600"/>
            <a:ext cx="3931920" cy="1828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39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AFTER 6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39" y="18288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Most damage irreversible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Window is closing fast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657600"/>
            <a:ext cx="11612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ACC15"/>
                </a:solidFill>
              </a:defRPr>
            </a:pPr>
            <a:r>
              <a:t>🎯 THE GOLD STANDARD GOALS</a:t>
            </a: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    First Medical Contact → EKG: ≤10 minutes</a:t>
            </a: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    Door-to-Balloon (D2B): ≤90 minutes</a:t>
            </a: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    First Medical Contact → Device: ≤90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The Chain of Survival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463040" cy="13716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AFC"/>
                </a:solidFill>
              </a:defRPr>
            </a:pPr>
            <a:r>
              <a:t>Symptom</a:t>
            </a:r>
            <a:br/>
            <a:r>
              <a:t>Onset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20240" y="2103120"/>
            <a:ext cx="228600" cy="365760"/>
          </a:xfrm>
          <a:prstGeom prst="rightArrow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48840" y="1645920"/>
            <a:ext cx="1463040" cy="13716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16916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28600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AFC"/>
                </a:solidFill>
              </a:defRPr>
            </a:pPr>
            <a:r>
              <a:t>911</a:t>
            </a:r>
            <a:br/>
            <a:r>
              <a:t>Call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11880" y="2103120"/>
            <a:ext cx="228600" cy="365760"/>
          </a:xfrm>
          <a:prstGeom prst="rightArrow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0" y="1645920"/>
            <a:ext cx="1463040" cy="1371600"/>
          </a:xfrm>
          <a:prstGeom prst="roundRect">
            <a:avLst/>
          </a:prstGeom>
          <a:solidFill>
            <a:srgbClr val="3B82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6916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8600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AFC"/>
                </a:solidFill>
              </a:defRPr>
            </a:pPr>
            <a:r>
              <a:t>EMS</a:t>
            </a:r>
            <a:br/>
            <a:r>
              <a:t>Arrival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303520" y="2103120"/>
            <a:ext cx="228600" cy="365760"/>
          </a:xfrm>
          <a:prstGeom prst="rightArrow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32120" y="1645920"/>
            <a:ext cx="1463040" cy="1371600"/>
          </a:xfrm>
          <a:prstGeom prst="roundRect">
            <a:avLst/>
          </a:prstGeom>
          <a:solidFill>
            <a:srgbClr val="3B82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16916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28600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AFC"/>
                </a:solidFill>
              </a:defRPr>
            </a:pPr>
            <a:r>
              <a:t>12-Lead</a:t>
            </a:r>
            <a:br/>
            <a:r>
              <a:t>EKG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995160" y="2103120"/>
            <a:ext cx="228600" cy="365760"/>
          </a:xfrm>
          <a:prstGeom prst="rightArrow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1645920"/>
            <a:ext cx="1463040" cy="1371600"/>
          </a:xfrm>
          <a:prstGeom prst="roundRect">
            <a:avLst/>
          </a:prstGeom>
          <a:solidFill>
            <a:srgbClr val="3B82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16916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28600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AFC"/>
                </a:solidFill>
              </a:defRPr>
            </a:pPr>
            <a:r>
              <a:t>Cath Lab</a:t>
            </a:r>
            <a:br/>
            <a:r>
              <a:t>Activation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686800" y="2103120"/>
            <a:ext cx="228600" cy="365760"/>
          </a:xfrm>
          <a:prstGeom prst="rightArrow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15400" y="1645920"/>
            <a:ext cx="1463040" cy="13716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16916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228600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AFC"/>
                </a:solidFill>
              </a:defRPr>
            </a:pPr>
            <a:r>
              <a:t>Hospital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378440" y="2103120"/>
            <a:ext cx="228600" cy="365760"/>
          </a:xfrm>
          <a:prstGeom prst="rightArrow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607040" y="1645920"/>
            <a:ext cx="1463040" cy="13716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0" y="16916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228600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AFC"/>
                </a:solidFill>
              </a:defRPr>
            </a:pPr>
            <a:r>
              <a:t>Wire</a:t>
            </a:r>
            <a:br/>
            <a:r>
              <a:t>Crossing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474720"/>
            <a:ext cx="116128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🎯 WHERE EMS MAKES THE BIGGEST IMPACT</a:t>
            </a:r>
          </a:p>
          <a:p>
            <a:pPr>
              <a:spcBef>
                <a:spcPts val="600"/>
              </a:spcBef>
              <a:defRPr sz="1800" b="0">
                <a:solidFill>
                  <a:srgbClr val="F8FAFC"/>
                </a:solidFill>
              </a:defRPr>
            </a:pPr>
            <a:r>
              <a:t>  ✓ Rapid 12-lead acquisition</a:t>
            </a:r>
          </a:p>
          <a:p>
            <a:pPr>
              <a:spcBef>
                <a:spcPts val="600"/>
              </a:spcBef>
              <a:defRPr sz="1800" b="0">
                <a:solidFill>
                  <a:srgbClr val="F8FAFC"/>
                </a:solidFill>
              </a:defRPr>
            </a:pPr>
            <a:r>
              <a:t>  ✓ Early cath lab activation (field activation)</a:t>
            </a:r>
          </a:p>
          <a:p>
            <a:pPr>
              <a:spcBef>
                <a:spcPts val="600"/>
              </a:spcBef>
              <a:defRPr sz="1800" b="0">
                <a:solidFill>
                  <a:srgbClr val="F8FAFC"/>
                </a:solidFill>
              </a:defRPr>
            </a:pPr>
            <a:r>
              <a:t>  ✓ Bypass non-PCI facilities when appropriate</a:t>
            </a:r>
          </a:p>
          <a:p>
            <a:pPr>
              <a:spcBef>
                <a:spcPts val="600"/>
              </a:spcBef>
              <a:defRPr sz="1800" b="0">
                <a:solidFill>
                  <a:srgbClr val="F8FAFC"/>
                </a:solidFill>
              </a:defRPr>
            </a:pPr>
            <a:r>
              <a:t>  ✓ Minimize scene time</a:t>
            </a:r>
          </a:p>
          <a:p>
            <a:pPr>
              <a:spcBef>
                <a:spcPts val="600"/>
              </a:spcBef>
              <a:defRPr sz="1800" b="1">
                <a:solidFill>
                  <a:srgbClr val="FACC15"/>
                </a:solidFill>
              </a:defRPr>
            </a:pPr>
            <a:r>
              <a:t>  ✓ Field activation saves 15-20 minutes = LIVES SAVED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Coronary Anatomy: The Big Three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657600" cy="34747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🔴 LAD Left Anterior Descending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'The Widow Maker'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Supplies: Anterior wall,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septum, apex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STEMI: V1-V4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657600" cy="34747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ACC15"/>
                </a:solidFill>
              </a:defRPr>
            </a:pPr>
            <a:r>
              <a:t>🟡 LCx Left Circumflex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8288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'The Sneaky One'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Supplies: Lateral wall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STEMI: I, aVL, V5-V6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657600" cy="34747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🟢 RCA Right Coronary Artery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Supplies: Inferior wall,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RV, AV node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STEMI: II, III, aVF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⚠️ Watch for bradycardia!</a:t>
            </a:r>
          </a:p>
        </p:txBody>
      </p:sp>
      <p:pic>
        <p:nvPicPr>
          <p:cNvPr id="15" name="Picture 14" descr="coronary-anatomy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029200"/>
            <a:ext cx="2743200" cy="19753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432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A855F7"/>
                </a:solidFill>
              </a:defRPr>
            </a:pPr>
            <a:r>
              <a:t>💡 MNEMONIC: "LAD in front, RCA below, LCx to the side we go"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What Happens During a 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THE CASCADE:</a:t>
            </a: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• 1. Atherosclerotic plaque ruptures</a:t>
            </a: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• 2. Platelet adhesion and aggregation</a:t>
            </a: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• 3. Thrombus forms → Complete occlusion</a:t>
            </a: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• 4. Myocardium becomes ischemic (minutes)</a:t>
            </a: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• 5. Injury pattern on EKG (minutes-hours)</a:t>
            </a: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• 6. Necrosis/Infarction (hours)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SALVAGEABLE MYOCARDIUM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The 'ischemic penumbra' - viable but at risk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This is what we're racing to save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Best outcomes within 120 minutes!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EKG: ST-Elevation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DEFINITION OF STEMI: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Limb leads (I, II, III, aVL, aVF): ≥1 mm elevation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Precordial leads (V1-V6): ≥2 mm elevation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Must be in ≥2 contiguous (adjacent) leads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WHAT TO LOOK FOR: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ST segment elevated above baseline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'Tombstone' or convex morphology = BAD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Reciprocal changes (ST depression in opposite leads)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CC15"/>
                </a:solidFill>
              </a:defRPr>
            </a:pPr>
            <a:r>
              <a:t>NORMAL vs STEMI</a:t>
            </a:r>
          </a:p>
          <a:p>
            <a:pPr>
              <a:spcBef>
                <a:spcPts val="2000"/>
              </a:spcBef>
              <a:defRPr sz="2400">
                <a:solidFill>
                  <a:srgbClr val="22C55E"/>
                </a:solidFill>
                <a:latin typeface="Courier New"/>
              </a:defRPr>
            </a:pPr>
            <a:r>
              <a:t>Normal:  ___/\___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(ST at baseline)</a:t>
            </a:r>
          </a:p>
          <a:p>
            <a:pPr>
              <a:spcBef>
                <a:spcPts val="2000"/>
              </a:spcBef>
              <a:defRPr sz="2400">
                <a:solidFill>
                  <a:srgbClr val="EF4444"/>
                </a:solidFill>
                <a:latin typeface="Courier New"/>
              </a:defRPr>
            </a:pPr>
            <a:r>
              <a:t>STEMI:  ___/‾‾\___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(ST elevated - 'tombstone')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Anterior STEMI (LAD Occlusion)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THE 'WIDOW MAKER'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EKG PATTERN: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ST elevation in V1, V2, V3, V4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May extend to V5-V6 if proximal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Reciprocal depression in II, III, aVF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CLINICAL SIGNIFICANCE: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Largest territory at risk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Highest mortality of all STEMIs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Can rapidly develop cardiogenic shock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Call the cath lab NOW!</a:t>
            </a:r>
          </a:p>
        </p:txBody>
      </p:sp>
      <p:pic>
        <p:nvPicPr>
          <p:cNvPr id="7" name="Picture 6" descr="ECG-Extensive-anterior-MI-tombstoning-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217920" cy="21845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Inferior STEMI (RCA/LCx)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EKG PATTERN: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ST elevation in II, III, aVF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III &gt; II suggests RCA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Reciprocal depression in I, aVL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⚠️ CRITICAL: CHECK V4R!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ST elevation ≥1mm = RV infarct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Changes management!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WHY IT MATTERS: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RCA feeds AV node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Watch for bradycardia/heart block</a:t>
            </a:r>
          </a:p>
        </p:txBody>
      </p:sp>
      <p:pic>
        <p:nvPicPr>
          <p:cNvPr id="7" name="Picture 6" descr="ECG-Inferior-STEMI-Hyperacut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217920" cy="25027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⚠️ Right Ventricular Infarction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161288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</a:defRPr>
            </a:pPr>
            <a:r>
              <a:t>NITRO CAN KILL THESE PATIENTS - They are PRELOAD DEPENDENT!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945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WHEN TO SUSPECT: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Inferior STEMI on EKG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Hypotension (especially after nitrates!)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JVD + clear lungs (paradox)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V4R IS YOUR FRIEND: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≥1 mm ST elevation = RV involvement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194560"/>
            <a:ext cx="274320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22860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❌ AVOID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6517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Nitrates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Morphine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Diuretics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194560"/>
            <a:ext cx="292608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✓ GIVE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6517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Aggressive IV fluids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(Preload dependent!)</a:t>
            </a:r>
          </a:p>
        </p:txBody>
      </p:sp>
      <p:pic>
        <p:nvPicPr>
          <p:cNvPr id="15" name="Picture 14" descr="ECG-Right-ventricular-infarction-1b-V4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389120"/>
            <a:ext cx="5486400" cy="2862072"/>
          </a:xfrm>
          <a:prstGeom prst="rect">
            <a:avLst/>
          </a:prstGeom>
        </p:spPr>
      </p:pic>
      <p:pic>
        <p:nvPicPr>
          <p:cNvPr id="16" name="Picture 15" descr="V4R-ECG-lead-placem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389120"/>
            <a:ext cx="27432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Lateral STEMI (LCx Occlusion)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THE 'SNEAKY' STEMI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EKG PATTERN: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ST elevation in I, aVL, V5, V6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Often subtle - easy to miss!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Reciprocal depression in inferior leads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CLINICAL PEARL: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Look carefully at leads I and aVL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Even 1-2mm elevation is significant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LCx wraps around the back</a:t>
            </a:r>
          </a:p>
        </p:txBody>
      </p:sp>
      <p:pic>
        <p:nvPicPr>
          <p:cNvPr id="7" name="Picture 6" descr="ECG-Lateral-STEMI-1st-diago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217920" cy="23109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Posterior STEMI: The Hidden 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STANDARD 12-LEAD SHOWS MIRROR IMAGE: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ST DEPRESSION in V1-V3 (not elevation!)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Tall, broad R waves in V1-V2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Upright T waves in V1-V3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CONFIRM WITH POSTERIOR LEADS: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V7, V8, V9 placement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ST elevation ≥0.5mm confirms it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OFTEN OCCURS WITH: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Inferior STEMI (RCA)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Lateral STEMI (LCx)</a:t>
            </a:r>
          </a:p>
        </p:txBody>
      </p:sp>
      <p:pic>
        <p:nvPicPr>
          <p:cNvPr id="7" name="Picture 6" descr="ECG-Posterior-AMI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217920" cy="29276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STEMI Mimics: Know the Imposters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657600" cy="16459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ACC15"/>
                </a:solidFill>
              </a:defRPr>
            </a:pPr>
            <a:r>
              <a:t>LVH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Left Ventricular</a:t>
            </a:r>
            <a:br/>
            <a:r>
              <a:t>Hypertrophy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657600" cy="16459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ACC15"/>
                </a:solidFill>
              </a:defRPr>
            </a:pPr>
            <a:r>
              <a:t>LBBB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8288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Left Bundle</a:t>
            </a:r>
            <a:br/>
            <a:r>
              <a:t>Branch Block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657600" cy="16459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ACC15"/>
                </a:solidFill>
              </a:defRPr>
            </a:pPr>
            <a:r>
              <a:t>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Early</a:t>
            </a:r>
            <a:br/>
            <a:r>
              <a:t>Repolarization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383280"/>
            <a:ext cx="3657600" cy="16459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4747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ACC15"/>
                </a:solidFill>
              </a:defRPr>
            </a:pPr>
            <a:r>
              <a:t>Pericarditis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8404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Inflammation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383280"/>
            <a:ext cx="3657600" cy="16459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4747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ACC15"/>
                </a:solidFill>
              </a:defRPr>
            </a:pPr>
            <a:r>
              <a:t>Brugada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8404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Genetic</a:t>
            </a:r>
            <a:br/>
            <a:r>
              <a:t>Channelopathy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383280"/>
            <a:ext cx="3657600" cy="16459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4747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ACC15"/>
                </a:solidFill>
              </a:defRPr>
            </a:pPr>
            <a:r>
              <a:t>Hyperkalemia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8404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High</a:t>
            </a:r>
            <a:br/>
            <a:r>
              <a:t>Potassium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394960"/>
            <a:ext cx="11612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⚠️ False activations waste resources, BUT: When in doubt, ACTIVATE!</a:t>
            </a:r>
          </a:p>
          <a:p>
            <a:pPr algn="ctr">
              <a:defRPr sz="1800">
                <a:solidFill>
                  <a:srgbClr val="94A3B8"/>
                </a:solidFill>
              </a:defRPr>
            </a:pPr>
            <a:r>
              <a:t>Better a false positive than a missed STEMI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STEMI Mimic: LVH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WHY IT MIMICS STEMI: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Large QRS voltage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'Strain pattern' - ST depression in V5-V6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Can have ST elevation in V1-V3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HOW TO DIFFERENTIATE: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High voltage criteria present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(S in V1 + R in V5/V6 &gt; 35mm)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ST changes are DISCORDANT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(opposite direction to QRS)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Patient has longstanding HTN</a:t>
            </a:r>
          </a:p>
        </p:txBody>
      </p:sp>
      <p:pic>
        <p:nvPicPr>
          <p:cNvPr id="7" name="Picture 6" descr="ECG-LVH-ST-elevation-not-M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217920" cy="38675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STEMI Mimic: LBBB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THE PROBLEM: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LBBB causes secondary ST changes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Old teaching: 'New LBBB = STEMI'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This is OUTDATED!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MODIFIED SGARBOSSA CRITERIA: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Concordant ST elevation ≥1mm → 5 pts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ST depression ≥1mm in V1-V3 → 3 pts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Discordant ST elev ≥25% of S → 2 pts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≥3 POINTS SUGGESTS STEMI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• KEY: CONCORDANT = ST goes SAME</a:t>
            </a:r>
          </a:p>
          <a:p>
            <a:pPr>
              <a:spcBef>
                <a:spcPts val="800"/>
              </a:spcBef>
              <a:defRPr sz="2000">
                <a:solidFill>
                  <a:srgbClr val="F8FAFC"/>
                </a:solidFill>
              </a:defRPr>
            </a:pPr>
            <a:r>
              <a:t>• direction as QRS (abnormal in LBBB)</a:t>
            </a:r>
          </a:p>
        </p:txBody>
      </p:sp>
      <p:pic>
        <p:nvPicPr>
          <p:cNvPr id="7" name="Picture 6" descr="ECG-Left-Bundle-Branch-Block-LBBB-2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943600" cy="24864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STEMI Mimic: Early Repolarization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CLASSIC FEATURES: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ST elevation in precordial leads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'Smiley face' concave morphology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'Fish hook' J-point notching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Young, healthy patients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THE KEY DIFFERENCE: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STEMI = Convex (frowny face) ☹️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BER = Concave (smiley face) 🙂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No reciprocal changes in BER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BER is stable (doesn't evolve)</a:t>
            </a:r>
          </a:p>
        </p:txBody>
      </p:sp>
      <p:pic>
        <p:nvPicPr>
          <p:cNvPr id="7" name="Picture 6" descr="ECG-Benign-Early-Repolarisation-BER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217920" cy="24198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STEMI Mimic: Pericarditis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EKG FEATURES: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DIFFUSE ST elevation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(Doesn't follow coronary territory)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PR depression in lead II - GOLD!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PR elevation in aVR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No reciprocal changes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CLINICAL CLUES: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Sharp, pleuritic chest pain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Worse with inspiration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Better sitting forward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Recent viral illness</a:t>
            </a:r>
          </a:p>
        </p:txBody>
      </p:sp>
      <p:pic>
        <p:nvPicPr>
          <p:cNvPr id="7" name="Picture 6" descr="ECG-Pericardit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217920" cy="239908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STEMI Mimic: Brugada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TYPE 1 BRUGADA: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Coved ST elevation ≥2mm in V1-V2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Followed by NEGATIVE T wave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RBBB pattern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WHY IT MATTERS: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Genetic channelopathy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Risk of sudden cardiac death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NOT a coronary occlusion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Cath lab won't find anything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Often younger patients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Family history of sudden death</a:t>
            </a:r>
          </a:p>
        </p:txBody>
      </p:sp>
      <p:pic>
        <p:nvPicPr>
          <p:cNvPr id="7" name="Picture 6" descr="ECG-Brugada-Syndrome-Type-1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217920" cy="29887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STEMI Mimic: Hyperkalemia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PROGRESSIVE EKG CHANGES: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K+ 5.5-6.5: Peaked T waves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K+ 6.5-7.5: PR↑, P flat, QRS wide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K+ &gt;7.5: Sine wave → VF → Asystole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WHY IT MIMICS: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Wide QRS looks like STEMI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But doesn't fit coronary territory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CLINICAL CONTEXT: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Dialysis patient?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Renal failure?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ACE-i / K-sparing diuretics?</a:t>
            </a:r>
          </a:p>
        </p:txBody>
      </p:sp>
      <p:pic>
        <p:nvPicPr>
          <p:cNvPr id="7" name="Picture 6" descr="ECG-Hyperkalaemia-peaked-T-waves-serum-potassium-7.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217920" cy="291205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Prehospital Management: 2023 Guidelines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5486400" cy="4114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✓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12-lead EKG within 10 min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Activate cath lab if STEMI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Aspirin 324mg CHEWED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IV access, cardiac monitor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O2 only if SpO2 &lt;90%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669280" cy="4114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6304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✗ 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Routine O2 in normoxic patients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Morphine as first-line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Delay transport for interventions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P2Y12 without physician order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⚠️ MONA IS OUTDATED!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669280"/>
            <a:ext cx="11612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A855F7"/>
                </a:solidFill>
              </a:defRPr>
            </a:pPr>
            <a:r>
              <a:t>💡 NEW MNEMONIC: "EAT" = EKG, Aspirin, Transport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Aspirin: Still the King 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DOSE: 324mg (four 81mg tablets)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ROUTE: CHEWED, non-enteric coated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TIMING: As soon as STEMI recognized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WHY CHEWED?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Faster absorption (15-20 min vs 60 min)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Buccal absorption even if vomiting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CONTRAINDICATIONS (RARE):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True aspirin allergy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Active GI bleed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NOT held for CABG or anticoagulation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Nitroglycerin: Use with Caution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INDICATIONS: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Ongoing chest pain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Hypertension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Pulmonary edema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DOSE: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0.4mg SL every 5 min x3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943600" cy="43891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46304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⚠️ HOLD NITRO IF: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82880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SBP &lt;90 mmHg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Viagra/Levitra within 24 hours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Cialis within 48 hours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RV infarction suspected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  (inferior STEMI + hypotension)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Severe aortic stenosis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Oxygen: Less is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2023 GUIDELINES: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O2 ONLY if SpO2 &lt;90%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Target: 90-94%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AVOID hyperoxia (&gt;96%)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WHY THE CHANGE?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AVOID trial: No benefit of routine O2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Hyperoxia may cause coronary vasoconstriction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EXCEPTIONS: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Respiratory distress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Heart failure with hypoxia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Cardiogenic shock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Morphine: The Fallen 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HISTORICAL ROLE: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Pain relief, anxiety reduction, preload reduction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CURRENT EVIDENCE: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Associated with INCREASED mortality!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May delay P2Y12 inhibitor absorption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Can cause hypotension, respiratory depression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WHEN TO CONSIDER: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Severe pain unresponsive to nitrates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Pulmonary edema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Always have naloxone available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NOT FIRST-LINE ANYMORE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📱 Cath Lab Activation: You Hold the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FIELD ACTIVATION SAVES LIVES: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Bypasses ED delay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Team mobilized before arrival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Saves 15-20 minutes!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WHAT TO COMMUNICATE: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Patient age, sex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Symptom onset time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EKG interpretation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Vitals, mental status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Any complications</a:t>
            </a: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  ETA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22860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📞 NORTH VISTA</a:t>
            </a:r>
          </a:p>
          <a:p>
            <a:pPr algn="ctr">
              <a:defRPr sz="2400">
                <a:solidFill>
                  <a:srgbClr val="F8FAFC"/>
                </a:solidFill>
              </a:defRPr>
            </a:pPr>
            <a:r>
              <a:t>STEMI HOTLINE</a:t>
            </a:r>
          </a:p>
          <a:p>
            <a:pPr algn="ctr">
              <a:defRPr sz="3200" b="1">
                <a:solidFill>
                  <a:srgbClr val="0D1117"/>
                </a:solidFill>
              </a:defRPr>
            </a:pPr>
            <a:r>
              <a:t>[INSERT NUMBER]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🔄 STEMI Treatment Algorithm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71600"/>
            <a:ext cx="2286000" cy="82296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508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CHEST PAIN</a:t>
            </a:r>
            <a:br/>
            <a:r>
              <a:t>Suspect ACS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377440"/>
            <a:ext cx="228600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51460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12-Lead EKG</a:t>
            </a:r>
            <a:br/>
            <a:r>
              <a:t>(within 10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383280"/>
            <a:ext cx="2286000" cy="8229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52044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STEMI?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389120"/>
            <a:ext cx="201168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5262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1117"/>
                </a:solidFill>
              </a:defRPr>
            </a:pPr>
            <a:r>
              <a:t>ASA 324mg</a:t>
            </a:r>
            <a:br/>
            <a:r>
              <a:t>chewed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394960"/>
            <a:ext cx="201168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553212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1117"/>
                </a:solidFill>
              </a:defRPr>
            </a:pPr>
            <a:r>
              <a:t>Activate</a:t>
            </a:r>
            <a:br/>
            <a:r>
              <a:t>Cath Lab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389120"/>
            <a:ext cx="2011680" cy="82296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5262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1117"/>
                </a:solidFill>
              </a:defRPr>
            </a:pPr>
            <a:r>
              <a:t>Consider</a:t>
            </a:r>
            <a:br/>
            <a:r>
              <a:t>Mimics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5394960"/>
            <a:ext cx="201168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553212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1117"/>
                </a:solidFill>
              </a:defRPr>
            </a:pPr>
            <a:r>
              <a:t>Transport</a:t>
            </a:r>
            <a:br/>
            <a:r>
              <a:t>&amp; 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4903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74903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NO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Transport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5486400" cy="2286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🏥 DIRECT TO PCI CENTER IF: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STEMI identified in field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PCI center within 60-90 minutes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Patient hemodynamically stable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669280" cy="2286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6304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ACC15"/>
                </a:solidFill>
              </a:defRPr>
            </a:pPr>
            <a:r>
              <a:t>🚑 NEAREST ED FIRST IF: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Cardiac arrest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Cardiogenic shock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Unclear diagnosis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PCI center &gt;120 min 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931920"/>
            <a:ext cx="11612880" cy="13716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0233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🚁 CONSIDER HELICOPTER IF: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Ground transport &gt;60 minutes to PCI center | Weather permits | Landing zone available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What Happens in the Cath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PRIMARY PCI PROCEDURE: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1. Access (radial or femoral artery)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2. Coronary angiography (find blockage)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3. Wire crosses the lesion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4. Balloon angioplasty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5. Stent deployment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6. Post-dilation and optimization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  <a:defRPr sz="2000">
                <a:solidFill>
                  <a:srgbClr val="22C55E"/>
                </a:solidFill>
              </a:defRPr>
            </a:pPr>
            <a:r>
              <a:t>✓ GOAL: FMC-to-Device &lt;90 minutes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OUTCOMES: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95%+ success rate opening artery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Most patients home in 2-3 days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Cardiogenic Shock: When the Pump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DEFINITION: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SBP &lt;90 despite adequate filling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Signs of end-organ hypoperfusion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Occurs in ~5-8% of STEMI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Mortality: 40-50%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MANAGEMENT: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Still need PCI - primary treatment!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Vasopressors: norepinephrine preferred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MECHANICAL SUPPORT: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Impella - percutaneous LVAD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IABP - intra-aortic balloon pump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ECMO - for refractory shock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Medications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2560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8132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1117"/>
                </a:solidFill>
              </a:defRPr>
            </a:pPr>
            <a:r>
              <a:t>ANTIPLATELET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481328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Aspirin 324mg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8132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EMS - CHEWED!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084832"/>
            <a:ext cx="256032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1117"/>
                </a:solidFill>
              </a:defRPr>
            </a:pPr>
            <a:r>
              <a:t>ANTIPLATELET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194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P2Y12 inhibitor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945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ED/Cath lab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798064"/>
            <a:ext cx="256032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907792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1117"/>
                </a:solidFill>
              </a:defRPr>
            </a:pPr>
            <a:r>
              <a:t>ANTICOAGULANT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90779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Heparin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9077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ED/Cath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511296"/>
            <a:ext cx="2560320" cy="59436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621024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1117"/>
                </a:solidFill>
              </a:defRPr>
            </a:pPr>
            <a:r>
              <a:t>VASODILATOR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62102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Nitroglycerin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621024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PRN - with caution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224528"/>
            <a:ext cx="2560320" cy="5943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334256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BETA-BLOCKER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334256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Metoprolol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334256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Within 24h if stable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937760"/>
            <a:ext cx="2560320" cy="5943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504748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ACE-I/ARB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047488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Lisinopril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04748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Within 24h if stable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5650992"/>
            <a:ext cx="2560320" cy="5943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760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STATIN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760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Atorvastatin 80mg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760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Before discharge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76072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ACC15"/>
                </a:solidFill>
              </a:defRPr>
            </a:pPr>
            <a:r>
              <a:t>💡 YOUR JOB: Aspirin. Everything else happens at the hospital.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Special Scenario: Cardiac Arrest with 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IF STEMI ON POST-ROSC EKG: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Immediate cath lab activation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Transport to PCI center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Consider targeted temperature management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May need mechanical support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IF NO STEMI BUT SUSPECTED CARDIAC: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May still benefit from angiography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~30% of OHCA have culprit lesion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Discuss with receiving facility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Special Scenario: Cocaine-Associated 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MECHANISM: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Coronary vasospasm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Accelerated atherosclerosis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Prothrombotic state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Increased O2 demand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MANAGEMENT DIFFERENCES: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Benzos first-line for agitation</a:t>
            </a: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  ⚠️ AVOID BETA-BLOCKERS!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(unopposed alpha effect)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Nitrates are helpful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PCI if true STEMI with thrombus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Case Study 1: 62-year-old Male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PRESENTATION: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Crushing chest pressure x 45 min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Hx: HTN, DM, former smoker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Vitals: HR 88, BP 156/92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SpO2 97% RA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QUESTIONS: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1. What type of STEMI?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2. What artery is occluded?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3. Immediate actions?</a:t>
            </a:r>
          </a:p>
        </p:txBody>
      </p:sp>
      <p:pic>
        <p:nvPicPr>
          <p:cNvPr id="7" name="Picture 6" descr="ECG-Extensive-anterior-MI-tombstoning-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217920" cy="218456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Case Study 2: 71-year-old Female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PRESENTATION: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Chest discomfort, nausea x 2 hrs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Hx: HTN, CKD stage 3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Vitals: HR 48, BP 88/54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SpO2 94% RA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QUESTIONS: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1. What type of STEMI?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2. Why bradycardic/hypotensive?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3. What to do (and NOT do)?</a:t>
            </a:r>
          </a:p>
        </p:txBody>
      </p:sp>
      <p:pic>
        <p:nvPicPr>
          <p:cNvPr id="7" name="Picture 6" descr="ECG-Inferior-AMI-STEMI-Massive-tombsto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217920" cy="305196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Case Study 3: 28-year-old Male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PRESENTATION: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Sharp chest pain, worse breathing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Hx: URI 1 week ago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Vitals: HR 102, BP 128/78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SpO2 99% RA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QUESTIONS: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1. Is this STEMI?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2. Key differentiating features?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3. Activate cath lab?</a:t>
            </a:r>
          </a:p>
        </p:txBody>
      </p:sp>
      <p:pic>
        <p:nvPicPr>
          <p:cNvPr id="7" name="Picture 6" descr="ECG-Pericardit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217920" cy="239908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🎯 Key Take-Home Points</a:t>
            </a:r>
          </a:p>
        </p:txBody>
      </p:sp>
      <p:sp>
        <p:nvSpPr>
          <p:cNvPr id="6" name="Oval 5"/>
          <p:cNvSpPr/>
          <p:nvPr/>
        </p:nvSpPr>
        <p:spPr>
          <a:xfrm>
            <a:off x="274320" y="137160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TIME = MUSCLE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37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Every minute counts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17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EKG EARLY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1737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Within 10 minutes</a:t>
            </a:r>
          </a:p>
        </p:txBody>
      </p:sp>
      <p:sp>
        <p:nvSpPr>
          <p:cNvPr id="14" name="Oval 13"/>
          <p:cNvSpPr/>
          <p:nvPr/>
        </p:nvSpPr>
        <p:spPr>
          <a:xfrm>
            <a:off x="274320" y="265176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6974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ACTIVATE EARLY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017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Saves 15-20 min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65176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6974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KNOW MIMICS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3017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But when in doubt, activate</a:t>
            </a:r>
          </a:p>
        </p:txBody>
      </p:sp>
      <p:sp>
        <p:nvSpPr>
          <p:cNvPr id="22" name="Oval 21"/>
          <p:cNvSpPr/>
          <p:nvPr/>
        </p:nvSpPr>
        <p:spPr>
          <a:xfrm>
            <a:off x="274320" y="39319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97763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931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ASPIRIN IS 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2976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324mg chewed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39319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97763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3931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CHECK V4R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42976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On inferior STEMIs</a:t>
            </a:r>
          </a:p>
        </p:txBody>
      </p:sp>
      <p:sp>
        <p:nvSpPr>
          <p:cNvPr id="30" name="Oval 29"/>
          <p:cNvSpPr/>
          <p:nvPr/>
        </p:nvSpPr>
        <p:spPr>
          <a:xfrm>
            <a:off x="274320" y="5212079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25779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52120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O2 IF NEEDED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5577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Only if SpO2 &lt;90%</a:t>
            </a:r>
          </a:p>
        </p:txBody>
      </p:sp>
      <p:sp>
        <p:nvSpPr>
          <p:cNvPr id="34" name="Oval 33"/>
          <p:cNvSpPr/>
          <p:nvPr/>
        </p:nvSpPr>
        <p:spPr>
          <a:xfrm>
            <a:off x="6217920" y="5212079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25779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59" y="52120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LESS MORPHINE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59" y="5577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Use judiciously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📋 STEMI Field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8FAFC"/>
                </a:solidFill>
              </a:defRPr>
            </a:pPr>
            <a:r>
              <a:t>☐ 12-lead EKG (within 10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8FAFC"/>
                </a:solidFill>
              </a:defRPr>
            </a:pPr>
            <a:r>
              <a:t>☐ Identify STEMI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3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8FAFC"/>
                </a:solidFill>
              </a:defRPr>
            </a:pPr>
            <a:r>
              <a:t>☐ Call STEMI hotline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5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8FAFC"/>
                </a:solidFill>
              </a:defRPr>
            </a:pPr>
            <a:r>
              <a:t>☐ Aspirin 324mg (chewed)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8FAFC"/>
                </a:solidFill>
              </a:defRPr>
            </a:pPr>
            <a:r>
              <a:t>☐ O2 only if SpO2 &lt;90%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8619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8FAFC"/>
                </a:solidFill>
              </a:defRPr>
            </a:pPr>
            <a:r>
              <a:t>☐ IV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1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8FAFC"/>
                </a:solidFill>
              </a:defRPr>
            </a:pPr>
            <a:r>
              <a:t>☐ Nitro (if no contraindication)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9203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8FAFC"/>
                </a:solidFill>
              </a:defRPr>
            </a:pPr>
            <a:r>
              <a:t>☐ Check V4R if inferior STEMI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5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8FAFC"/>
                </a:solidFill>
              </a:defRPr>
            </a:pPr>
            <a:r>
              <a:t>☐ Transport CODE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5486400" cy="2743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4630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⚠️ HOLD NITRO IF: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8288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SBP &lt;90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RV infarct suspected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PDE-5 inhibitor (24-48h)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389120"/>
            <a:ext cx="5486400" cy="16459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4805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ACC15"/>
                </a:solidFill>
              </a:defRPr>
            </a:pPr>
            <a:r>
              <a:t>💡 REMEMBER V4R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84632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On ALL inferior STEMIs!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RV infarct changes everything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North Vista STEMI Protocol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6705295" cy="1645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554480"/>
            <a:ext cx="6705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D1117"/>
                </a:solidFill>
              </a:defRPr>
            </a:pPr>
            <a:r>
              <a:t>📞 STEMI HOTLINE</a:t>
            </a:r>
          </a:p>
          <a:p>
            <a:pPr algn="ctr">
              <a:defRPr sz="4000" b="1">
                <a:solidFill>
                  <a:srgbClr val="F8FAFC"/>
                </a:solidFill>
              </a:defRPr>
            </a:pPr>
            <a:r>
              <a:t>[INSERT NUMBER]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291840"/>
            <a:ext cx="5486400" cy="32004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3832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📤 WHAT WE NEED FROM YOU: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4904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Call early (even on scene)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Patient: age, sex, symptom onset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EKG interpretation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Vitals, mental status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Any complications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ETA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669280" cy="32004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38328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✓ WHAT WE'LL HAVE READY: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749040"/>
            <a:ext cx="5394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Cath lab team gowned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Anesthesia on standby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Direct gurney-to-table pathway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We're waiting for YOU!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457200"/>
            <a:ext cx="2133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</a:defRPr>
            </a:pPr>
            <a:r>
              <a:t>Questions?</a:t>
            </a:r>
          </a:p>
          <a:p>
            <a:pPr algn="ctr">
              <a:spcBef>
                <a:spcPts val="1200"/>
              </a:spcBef>
              <a:defRPr sz="2800" i="1">
                <a:solidFill>
                  <a:srgbClr val="EF4444"/>
                </a:solidFill>
              </a:defRPr>
            </a:pPr>
          </a:p>
          <a:p>
            <a:pPr algn="ctr"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  <a:r>
              <a:t>Dr. Peter Bleszynski, MD, FACC, FSCAI</a:t>
            </a:r>
          </a:p>
          <a:p>
            <a:pPr algn="ctr"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  <a:r>
              <a:t>Director of Cardiology, North Vista Hospital</a:t>
            </a:r>
          </a:p>
          <a:p>
            <a:pPr algn="ctr"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</a:p>
          <a:p>
            <a:pPr algn="ctr"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  <a:r>
              <a:t>📞 STEMI Hotline: [INSERT NUMBER]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6217920"/>
            <a:ext cx="4876495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4535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Resources for Further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GUIDELINES: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2023 AHA/ACC/ACEP/NAEMSP/SCAI Guideline for ACS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2021 ACC/AHA/SCAI Guideline for Coronary Revascularization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EKG PRACTICE: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Life in the Fast Lane (litfl.com)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Dr. Smith's ECG Blog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ECG Wave-Maven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APPS: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AHA ECG Course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</a:defRPr>
            </a:pPr>
            <a:r>
              <a:t>    → Medscape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457200"/>
            <a:ext cx="2133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</a:defRPr>
            </a:pPr>
            <a:r>
              <a:t>Thank You</a:t>
            </a:r>
          </a:p>
          <a:p>
            <a:pPr algn="ctr">
              <a:spcBef>
                <a:spcPts val="1200"/>
              </a:spcBef>
              <a:defRPr sz="2800" i="1">
                <a:solidFill>
                  <a:srgbClr val="EF4444"/>
                </a:solidFill>
              </a:defRPr>
            </a:pPr>
            <a:r>
              <a:t>You save lives every day.</a:t>
            </a:r>
          </a:p>
          <a:p>
            <a:pPr algn="ctr"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</a:p>
          <a:p>
            <a:pPr algn="ctr"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  <a:r>
              <a:t>🫀</a:t>
            </a:r>
          </a:p>
          <a:p>
            <a:pPr algn="ctr"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</a:p>
          <a:p>
            <a:pPr algn="ctr"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  <a:r>
              <a:t>Questions? Contact Dr. Bleszynski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6217920"/>
            <a:ext cx="4876495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